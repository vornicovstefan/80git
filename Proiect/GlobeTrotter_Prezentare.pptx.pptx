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753600" cy="7315200"/>
  <p:notesSz cx="6858000" cy="9144000"/>
  <p:embeddedFontLst>
    <p:embeddedFont>
      <p:font typeface="Arial Bold" panose="020B0704020202020204" pitchFamily="34" charset="0"/>
      <p:regular r:id="rId14"/>
      <p:bold r:id="rId15"/>
    </p:embeddedFont>
    <p:embeddedFont>
      <p:font typeface="Times New Roman Bold" panose="02020803070505020304" pitchFamily="18" charset="0"/>
      <p:regular r:id="rId16"/>
      <p:bold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1598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96F70E-A3F3-41F7-8BFA-F1B17F0F207B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233953-8BD8-454D-ABE7-F6518193FF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5628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233953-8BD8-454D-ABE7-F6518193FFA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28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852526" y="5700893"/>
            <a:ext cx="5320922" cy="1076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47"/>
              </a:lnSpc>
            </a:pPr>
            <a:r>
              <a:rPr lang="en-US" sz="1706" b="1" spc="-5">
                <a:solidFill>
                  <a:srgbClr val="1F4E7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Elev: Vornicov Stefan</a:t>
            </a:r>
          </a:p>
          <a:p>
            <a:pPr algn="just">
              <a:lnSpc>
                <a:spcPts val="2047"/>
              </a:lnSpc>
            </a:pPr>
            <a:r>
              <a:rPr lang="en-US" sz="1706" b="1" spc="-5">
                <a:solidFill>
                  <a:srgbClr val="1F4E7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Grupa: PTPP-251</a:t>
            </a:r>
          </a:p>
          <a:p>
            <a:pPr algn="just">
              <a:lnSpc>
                <a:spcPts val="2047"/>
              </a:lnSpc>
            </a:pPr>
            <a:r>
              <a:rPr lang="en-US" sz="1706" b="1" spc="-5">
                <a:solidFill>
                  <a:srgbClr val="1F4E7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Conducător: Adina Pîntea</a:t>
            </a:r>
          </a:p>
          <a:p>
            <a:pPr algn="just">
              <a:lnSpc>
                <a:spcPts val="2047"/>
              </a:lnSpc>
            </a:pPr>
            <a:r>
              <a:rPr lang="en-US" sz="1706" b="1" spc="-5">
                <a:solidFill>
                  <a:srgbClr val="1F4E7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          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81972" y="2702528"/>
            <a:ext cx="8989657" cy="4200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1"/>
              </a:lnSpc>
            </a:pPr>
            <a:r>
              <a:rPr lang="en-US" sz="2559" b="1">
                <a:solidFill>
                  <a:srgbClr val="1F4E7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TEMA: Agentie de Turism Online - GlobeTrotter 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7651528" y="457876"/>
            <a:ext cx="1744647" cy="1061504"/>
            <a:chOff x="0" y="0"/>
            <a:chExt cx="2326196" cy="141533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326259" cy="1415288"/>
            </a:xfrm>
            <a:custGeom>
              <a:avLst/>
              <a:gdLst/>
              <a:ahLst/>
              <a:cxnLst/>
              <a:rect l="l" t="t" r="r" b="b"/>
              <a:pathLst>
                <a:path w="2326259" h="1415288">
                  <a:moveTo>
                    <a:pt x="0" y="0"/>
                  </a:moveTo>
                  <a:lnTo>
                    <a:pt x="2326259" y="0"/>
                  </a:lnTo>
                  <a:lnTo>
                    <a:pt x="2326259" y="1415288"/>
                  </a:lnTo>
                  <a:lnTo>
                    <a:pt x="0" y="1415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2" b="-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269062"/>
            <a:ext cx="9753600" cy="1294876"/>
            <a:chOff x="0" y="0"/>
            <a:chExt cx="13004800" cy="172650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004800" cy="1726438"/>
            </a:xfrm>
            <a:custGeom>
              <a:avLst/>
              <a:gdLst/>
              <a:ahLst/>
              <a:cxnLst/>
              <a:rect l="l" t="t" r="r" b="b"/>
              <a:pathLst>
                <a:path w="13004800" h="1726438">
                  <a:moveTo>
                    <a:pt x="0" y="0"/>
                  </a:moveTo>
                  <a:lnTo>
                    <a:pt x="13004800" y="0"/>
                  </a:lnTo>
                  <a:lnTo>
                    <a:pt x="13004800" y="1726438"/>
                  </a:lnTo>
                  <a:lnTo>
                    <a:pt x="0" y="1726438"/>
                  </a:lnTo>
                  <a:close/>
                </a:path>
              </a:pathLst>
            </a:custGeom>
            <a:solidFill>
              <a:srgbClr val="23557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19050"/>
              <a:ext cx="13004800" cy="174555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ctr">
                <a:lnSpc>
                  <a:spcPts val="3071"/>
                </a:lnSpc>
              </a:pPr>
              <a:r>
                <a:rPr lang="en-US" sz="2559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Introducere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985846" y="505997"/>
            <a:ext cx="1349369" cy="820998"/>
            <a:chOff x="0" y="0"/>
            <a:chExt cx="1799158" cy="109466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99209" cy="1094613"/>
            </a:xfrm>
            <a:custGeom>
              <a:avLst/>
              <a:gdLst/>
              <a:ahLst/>
              <a:cxnLst/>
              <a:rect l="l" t="t" r="r" b="b"/>
              <a:pathLst>
                <a:path w="1799209" h="1094613">
                  <a:moveTo>
                    <a:pt x="0" y="0"/>
                  </a:moveTo>
                  <a:lnTo>
                    <a:pt x="1799209" y="0"/>
                  </a:lnTo>
                  <a:lnTo>
                    <a:pt x="1799209" y="1094613"/>
                  </a:lnTo>
                  <a:lnTo>
                    <a:pt x="0" y="1094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2" b="-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60021" y="2209800"/>
            <a:ext cx="7887967" cy="1447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47091" lvl="1" indent="-123546" algn="l">
              <a:lnSpc>
                <a:spcPts val="2304"/>
              </a:lnSpc>
              <a:buFont typeface="Arial"/>
              <a:buChar char="•"/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GlobeTrotter este o platforma web pentru rezervari turistice online.</a:t>
            </a:r>
          </a:p>
          <a:p>
            <a:pPr marL="247091" lvl="1" indent="-123546" algn="l">
              <a:lnSpc>
                <a:spcPts val="2304"/>
              </a:lnSpc>
              <a:buFont typeface="Arial"/>
              <a:buChar char="•"/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Am ales aceasta tema deoarece turismul digital este in continua crestere.</a:t>
            </a:r>
          </a:p>
          <a:p>
            <a:pPr marL="247091" lvl="1" indent="-123546" algn="l">
              <a:lnSpc>
                <a:spcPts val="2304"/>
              </a:lnSpc>
              <a:buFont typeface="Arial"/>
              <a:buChar char="•"/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Site-ul prezinta destinatii din toata lumea, inclusiv Moldova.</a:t>
            </a:r>
          </a:p>
          <a:p>
            <a:pPr marL="247091" lvl="1" indent="-123546" algn="l">
              <a:lnSpc>
                <a:spcPts val="2304"/>
              </a:lnSpc>
              <a:buFont typeface="Arial"/>
              <a:buChar char="•"/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Utilizatorii pot explora destinatii, se pot inregistra si face rezervari.</a:t>
            </a:r>
          </a:p>
          <a:p>
            <a:pPr marL="247091" lvl="1" indent="-123546" algn="l">
              <a:lnSpc>
                <a:spcPts val="2304"/>
              </a:lnSpc>
              <a:buFont typeface="Arial"/>
              <a:buChar char="•"/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Proiectul foloseste HTML, CSS, JavaScript si stocare locala.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269062"/>
            <a:ext cx="9753600" cy="1294876"/>
            <a:chOff x="0" y="0"/>
            <a:chExt cx="13004800" cy="172650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004800" cy="1726438"/>
            </a:xfrm>
            <a:custGeom>
              <a:avLst/>
              <a:gdLst/>
              <a:ahLst/>
              <a:cxnLst/>
              <a:rect l="l" t="t" r="r" b="b"/>
              <a:pathLst>
                <a:path w="13004800" h="1726438">
                  <a:moveTo>
                    <a:pt x="0" y="0"/>
                  </a:moveTo>
                  <a:lnTo>
                    <a:pt x="13004800" y="0"/>
                  </a:lnTo>
                  <a:lnTo>
                    <a:pt x="13004800" y="1726438"/>
                  </a:lnTo>
                  <a:lnTo>
                    <a:pt x="0" y="1726438"/>
                  </a:lnTo>
                  <a:close/>
                </a:path>
              </a:pathLst>
            </a:custGeom>
            <a:solidFill>
              <a:srgbClr val="23557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19050"/>
              <a:ext cx="13004800" cy="174555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ctr">
                <a:lnSpc>
                  <a:spcPts val="3071"/>
                </a:lnSpc>
              </a:pPr>
              <a:r>
                <a:rPr lang="en-US" sz="2559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Sisteme Similare Comparate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985846" y="505997"/>
            <a:ext cx="1349369" cy="820998"/>
            <a:chOff x="0" y="0"/>
            <a:chExt cx="1799158" cy="109466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99209" cy="1094613"/>
            </a:xfrm>
            <a:custGeom>
              <a:avLst/>
              <a:gdLst/>
              <a:ahLst/>
              <a:cxnLst/>
              <a:rect l="l" t="t" r="r" b="b"/>
              <a:pathLst>
                <a:path w="1799209" h="1094613">
                  <a:moveTo>
                    <a:pt x="0" y="0"/>
                  </a:moveTo>
                  <a:lnTo>
                    <a:pt x="1799209" y="0"/>
                  </a:lnTo>
                  <a:lnTo>
                    <a:pt x="1799209" y="1094613"/>
                  </a:lnTo>
                  <a:lnTo>
                    <a:pt x="0" y="1094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2" b="-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9666" y="3463057"/>
            <a:ext cx="3224660" cy="1657226"/>
            <a:chOff x="0" y="0"/>
            <a:chExt cx="4299547" cy="220963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299585" cy="2209673"/>
            </a:xfrm>
            <a:custGeom>
              <a:avLst/>
              <a:gdLst/>
              <a:ahLst/>
              <a:cxnLst/>
              <a:rect l="l" t="t" r="r" b="b"/>
              <a:pathLst>
                <a:path w="4299585" h="2209673">
                  <a:moveTo>
                    <a:pt x="0" y="0"/>
                  </a:moveTo>
                  <a:lnTo>
                    <a:pt x="4299585" y="0"/>
                  </a:lnTo>
                  <a:lnTo>
                    <a:pt x="4299585" y="2209673"/>
                  </a:lnTo>
                  <a:lnTo>
                    <a:pt x="0" y="2209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3395" r="-339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9666" y="1667516"/>
            <a:ext cx="3224660" cy="1657226"/>
            <a:chOff x="0" y="0"/>
            <a:chExt cx="4299547" cy="220963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299585" cy="2209673"/>
            </a:xfrm>
            <a:custGeom>
              <a:avLst/>
              <a:gdLst/>
              <a:ahLst/>
              <a:cxnLst/>
              <a:rect l="l" t="t" r="r" b="b"/>
              <a:pathLst>
                <a:path w="4299585" h="2209673">
                  <a:moveTo>
                    <a:pt x="0" y="0"/>
                  </a:moveTo>
                  <a:lnTo>
                    <a:pt x="4299585" y="0"/>
                  </a:lnTo>
                  <a:lnTo>
                    <a:pt x="4299585" y="2209673"/>
                  </a:lnTo>
                  <a:lnTo>
                    <a:pt x="0" y="2209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7262" r="-726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9666" y="5488310"/>
            <a:ext cx="3224660" cy="1657226"/>
            <a:chOff x="0" y="0"/>
            <a:chExt cx="4299547" cy="220963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299585" cy="2209673"/>
            </a:xfrm>
            <a:custGeom>
              <a:avLst/>
              <a:gdLst/>
              <a:ahLst/>
              <a:cxnLst/>
              <a:rect l="l" t="t" r="r" b="b"/>
              <a:pathLst>
                <a:path w="4299585" h="2209673">
                  <a:moveTo>
                    <a:pt x="0" y="0"/>
                  </a:moveTo>
                  <a:lnTo>
                    <a:pt x="4299585" y="0"/>
                  </a:lnTo>
                  <a:lnTo>
                    <a:pt x="4299585" y="2209673"/>
                  </a:lnTo>
                  <a:lnTo>
                    <a:pt x="0" y="2209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264" r="-126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3582734" y="1824847"/>
            <a:ext cx="6079426" cy="10273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lang="en-US" sz="16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Booking.com:</a:t>
            </a:r>
          </a:p>
          <a:p>
            <a:pPr marL="205909" lvl="1" indent="-102955" algn="l">
              <a:lnSpc>
                <a:spcPts val="192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Rezervari hoteluri la nivel global</a:t>
            </a:r>
          </a:p>
          <a:p>
            <a:pPr marL="205909" lvl="1" indent="-102955" algn="l">
              <a:lnSpc>
                <a:spcPts val="192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Interfata complexa, multe optiuni si filtre</a:t>
            </a:r>
          </a:p>
          <a:p>
            <a:pPr marL="219637" lvl="1" indent="-109818" algn="l">
              <a:lnSpc>
                <a:spcPts val="2047"/>
              </a:lnSpc>
              <a:buFont typeface="Arial"/>
              <a:buChar char="•"/>
            </a:pPr>
            <a:r>
              <a:rPr lang="en-US" sz="170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Comisioane mari pentru agentii si hoteluri partenere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82734" y="3653542"/>
            <a:ext cx="6079426" cy="1257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lang="en-US" sz="16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TripAdvisor:</a:t>
            </a:r>
          </a:p>
          <a:p>
            <a:pPr marL="205909" lvl="1" indent="-102955" algn="l">
              <a:lnSpc>
                <a:spcPts val="192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Comunitate vastă cu opinii și fotografii de la turiști din întreaga lume</a:t>
            </a:r>
          </a:p>
          <a:p>
            <a:pPr marL="205909" lvl="1" indent="-102955" algn="l">
              <a:lnSpc>
                <a:spcPts val="192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Nu permite rezervarea directă pe platformă</a:t>
            </a:r>
          </a:p>
          <a:p>
            <a:pPr marL="205909" lvl="1" indent="-102955" algn="l">
              <a:lnSpc>
                <a:spcPts val="192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Lipsa pachetelor turistice complete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582734" y="5712038"/>
            <a:ext cx="7426309" cy="10109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lang="en-US" sz="16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Pandatur.md:</a:t>
            </a:r>
          </a:p>
          <a:p>
            <a:pPr marL="205909" lvl="1" indent="-102955" algn="l">
              <a:lnSpc>
                <a:spcPts val="192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Agentie turistica locala din Moldova</a:t>
            </a:r>
          </a:p>
          <a:p>
            <a:pPr marL="205909" lvl="1" indent="-102955" algn="l">
              <a:lnSpc>
                <a:spcPts val="192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Oferta limitata, doar destinatii selectate</a:t>
            </a:r>
          </a:p>
          <a:p>
            <a:pPr marL="205909" lvl="1" indent="-102955" algn="l">
              <a:lnSpc>
                <a:spcPts val="1920"/>
              </a:lnSpc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Nu are sistem de rezervare online automatizat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269062"/>
            <a:ext cx="9753600" cy="1294876"/>
            <a:chOff x="0" y="0"/>
            <a:chExt cx="13004800" cy="172650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004800" cy="1726438"/>
            </a:xfrm>
            <a:custGeom>
              <a:avLst/>
              <a:gdLst/>
              <a:ahLst/>
              <a:cxnLst/>
              <a:rect l="l" t="t" r="r" b="b"/>
              <a:pathLst>
                <a:path w="13004800" h="1726438">
                  <a:moveTo>
                    <a:pt x="0" y="0"/>
                  </a:moveTo>
                  <a:lnTo>
                    <a:pt x="13004800" y="0"/>
                  </a:lnTo>
                  <a:lnTo>
                    <a:pt x="13004800" y="1726438"/>
                  </a:lnTo>
                  <a:lnTo>
                    <a:pt x="0" y="1726438"/>
                  </a:lnTo>
                  <a:close/>
                </a:path>
              </a:pathLst>
            </a:custGeom>
            <a:solidFill>
              <a:srgbClr val="23557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19050"/>
              <a:ext cx="13004800" cy="174555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ctr">
                <a:lnSpc>
                  <a:spcPts val="3071"/>
                </a:lnSpc>
              </a:pPr>
              <a:r>
                <a:rPr lang="en-US" sz="2559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Scopul si Obiectivele Sistemului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985846" y="505997"/>
            <a:ext cx="1349369" cy="820998"/>
            <a:chOff x="0" y="0"/>
            <a:chExt cx="1799158" cy="109466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99209" cy="1094613"/>
            </a:xfrm>
            <a:custGeom>
              <a:avLst/>
              <a:gdLst/>
              <a:ahLst/>
              <a:cxnLst/>
              <a:rect l="l" t="t" r="r" b="b"/>
              <a:pathLst>
                <a:path w="1799209" h="1094613">
                  <a:moveTo>
                    <a:pt x="0" y="0"/>
                  </a:moveTo>
                  <a:lnTo>
                    <a:pt x="1799209" y="0"/>
                  </a:lnTo>
                  <a:lnTo>
                    <a:pt x="1799209" y="1094613"/>
                  </a:lnTo>
                  <a:lnTo>
                    <a:pt x="0" y="1094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2" b="-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405327" y="1994164"/>
            <a:ext cx="7887967" cy="2772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04"/>
              </a:lnSpc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b="1">
                <a:solidFill>
                  <a:srgbClr val="1C1C1C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Scop: </a:t>
            </a: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Crearea unui portal turistic complet si usor de utilizat.</a:t>
            </a:r>
          </a:p>
          <a:p>
            <a:pPr algn="l">
              <a:lnSpc>
                <a:spcPts val="2304"/>
              </a:lnSpc>
            </a:pPr>
            <a:endParaRPr lang="en-US" sz="1920">
              <a:solidFill>
                <a:srgbClr val="1C1C1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2304"/>
              </a:lnSpc>
            </a:pPr>
            <a:r>
              <a:rPr lang="en-US" sz="1920" b="1">
                <a:solidFill>
                  <a:srgbClr val="1C1C1C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Obiective:</a:t>
            </a:r>
          </a:p>
          <a:p>
            <a:pPr marL="247091" lvl="1" indent="-123546" algn="l">
              <a:lnSpc>
                <a:spcPts val="2304"/>
              </a:lnSpc>
              <a:buFont typeface="Arial"/>
              <a:buChar char="•"/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Prezentarea destinatiilor mondiale (6 continente, 30 orase).</a:t>
            </a:r>
          </a:p>
          <a:p>
            <a:pPr marL="247091" lvl="1" indent="-123546" algn="l">
              <a:lnSpc>
                <a:spcPts val="2304"/>
              </a:lnSpc>
              <a:buFont typeface="Arial"/>
              <a:buChar char="•"/>
            </a:pPr>
            <a:r>
              <a:rPr lang="en-US" sz="192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Permiterea utilizatorilor de a se inregistra si autentifica pe platforma.</a:t>
            </a:r>
          </a:p>
          <a:p>
            <a:pPr marL="247091" lvl="1" indent="-123546" algn="l">
              <a:lnSpc>
                <a:spcPts val="2304"/>
              </a:lnSpc>
              <a:buFont typeface="Arial"/>
              <a:buChar char="•"/>
            </a:pPr>
            <a:r>
              <a:rPr lang="en-US" sz="192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Posibilitatea de a rezerva o destinatie turistica printr-un formular online.</a:t>
            </a:r>
          </a:p>
          <a:p>
            <a:pPr marL="247091" lvl="1" indent="-123546" algn="l">
              <a:lnSpc>
                <a:spcPts val="2304"/>
              </a:lnSpc>
              <a:buFont typeface="Arial"/>
              <a:buChar char="•"/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Design atractiv si responsive pentru toate dispozitivele.</a:t>
            </a:r>
          </a:p>
          <a:p>
            <a:pPr marL="247091" lvl="1" indent="-123546" algn="l">
              <a:lnSpc>
                <a:spcPts val="2304"/>
              </a:lnSpc>
            </a:pPr>
            <a:endParaRPr lang="en-US" sz="1920">
              <a:solidFill>
                <a:srgbClr val="1C1C1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269062"/>
            <a:ext cx="9753600" cy="1294876"/>
            <a:chOff x="0" y="0"/>
            <a:chExt cx="13004800" cy="172650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004800" cy="1726438"/>
            </a:xfrm>
            <a:custGeom>
              <a:avLst/>
              <a:gdLst/>
              <a:ahLst/>
              <a:cxnLst/>
              <a:rect l="l" t="t" r="r" b="b"/>
              <a:pathLst>
                <a:path w="13004800" h="1726438">
                  <a:moveTo>
                    <a:pt x="0" y="0"/>
                  </a:moveTo>
                  <a:lnTo>
                    <a:pt x="13004800" y="0"/>
                  </a:lnTo>
                  <a:lnTo>
                    <a:pt x="13004800" y="1726438"/>
                  </a:lnTo>
                  <a:lnTo>
                    <a:pt x="0" y="1726438"/>
                  </a:lnTo>
                  <a:close/>
                </a:path>
              </a:pathLst>
            </a:custGeom>
            <a:solidFill>
              <a:srgbClr val="23557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19050"/>
              <a:ext cx="13004800" cy="174555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ctr">
                <a:lnSpc>
                  <a:spcPts val="3071"/>
                </a:lnSpc>
              </a:pPr>
              <a:r>
                <a:rPr lang="en-US" sz="2559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Cerintele Sistemului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985846" y="505997"/>
            <a:ext cx="1349369" cy="820998"/>
            <a:chOff x="0" y="0"/>
            <a:chExt cx="1799158" cy="109466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99209" cy="1094613"/>
            </a:xfrm>
            <a:custGeom>
              <a:avLst/>
              <a:gdLst/>
              <a:ahLst/>
              <a:cxnLst/>
              <a:rect l="l" t="t" r="r" b="b"/>
              <a:pathLst>
                <a:path w="1799209" h="1094613">
                  <a:moveTo>
                    <a:pt x="0" y="0"/>
                  </a:moveTo>
                  <a:lnTo>
                    <a:pt x="1799209" y="0"/>
                  </a:lnTo>
                  <a:lnTo>
                    <a:pt x="1799209" y="1094613"/>
                  </a:lnTo>
                  <a:lnTo>
                    <a:pt x="0" y="1094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2" b="-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45605" y="1827543"/>
            <a:ext cx="7887967" cy="321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04"/>
              </a:lnSpc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Pagini: Home, Destinatii, Moldova, Contacte, Despre Noi, Login, Register.</a:t>
            </a:r>
          </a:p>
          <a:p>
            <a:pPr algn="l">
              <a:lnSpc>
                <a:spcPts val="2304"/>
              </a:lnSpc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Autentificare: inregistrare cu validare, sesiune gestionata cu localStorage.</a:t>
            </a:r>
          </a:p>
          <a:p>
            <a:pPr algn="l">
              <a:lnSpc>
                <a:spcPts val="2304"/>
              </a:lnSpc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Rezervare: protejata - accesibila doar utilizatorilor logati.</a:t>
            </a:r>
          </a:p>
          <a:p>
            <a:pPr algn="l">
              <a:lnSpc>
                <a:spcPts val="2304"/>
              </a:lnSpc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Date dinamice: destinatii.json cu 30 destinatii, incarcat cu fetch().</a:t>
            </a:r>
          </a:p>
          <a:p>
            <a:pPr algn="l">
              <a:lnSpc>
                <a:spcPts val="2304"/>
              </a:lnSpc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Stilizare: variabile CSS custom, grid/flexbox, animatii, butoane stilizate.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269062"/>
            <a:ext cx="9753600" cy="1294876"/>
            <a:chOff x="0" y="0"/>
            <a:chExt cx="13004800" cy="172650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004800" cy="1726438"/>
            </a:xfrm>
            <a:custGeom>
              <a:avLst/>
              <a:gdLst/>
              <a:ahLst/>
              <a:cxnLst/>
              <a:rect l="l" t="t" r="r" b="b"/>
              <a:pathLst>
                <a:path w="13004800" h="1726438">
                  <a:moveTo>
                    <a:pt x="0" y="0"/>
                  </a:moveTo>
                  <a:lnTo>
                    <a:pt x="13004800" y="0"/>
                  </a:lnTo>
                  <a:lnTo>
                    <a:pt x="13004800" y="1726438"/>
                  </a:lnTo>
                  <a:lnTo>
                    <a:pt x="0" y="1726438"/>
                  </a:lnTo>
                  <a:close/>
                </a:path>
              </a:pathLst>
            </a:custGeom>
            <a:solidFill>
              <a:srgbClr val="23557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19050"/>
              <a:ext cx="13004800" cy="174555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ctr">
                <a:lnSpc>
                  <a:spcPts val="3071"/>
                </a:lnSpc>
              </a:pPr>
              <a:r>
                <a:rPr lang="en-US" sz="2559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Arhitectura Proiectului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985846" y="505997"/>
            <a:ext cx="1349369" cy="820998"/>
            <a:chOff x="0" y="0"/>
            <a:chExt cx="1799158" cy="109466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99209" cy="1094613"/>
            </a:xfrm>
            <a:custGeom>
              <a:avLst/>
              <a:gdLst/>
              <a:ahLst/>
              <a:cxnLst/>
              <a:rect l="l" t="t" r="r" b="b"/>
              <a:pathLst>
                <a:path w="1799209" h="1094613">
                  <a:moveTo>
                    <a:pt x="0" y="0"/>
                  </a:moveTo>
                  <a:lnTo>
                    <a:pt x="1799209" y="0"/>
                  </a:lnTo>
                  <a:lnTo>
                    <a:pt x="1799209" y="1094613"/>
                  </a:lnTo>
                  <a:lnTo>
                    <a:pt x="0" y="1094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2" b="-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Freeform 8"/>
          <p:cNvSpPr/>
          <p:nvPr/>
        </p:nvSpPr>
        <p:spPr>
          <a:xfrm>
            <a:off x="504800" y="4007176"/>
            <a:ext cx="3101909" cy="2171220"/>
          </a:xfrm>
          <a:custGeom>
            <a:avLst/>
            <a:gdLst/>
            <a:ahLst/>
            <a:cxnLst/>
            <a:rect l="l" t="t" r="r" b="b"/>
            <a:pathLst>
              <a:path w="3101909" h="2171220">
                <a:moveTo>
                  <a:pt x="0" y="0"/>
                </a:moveTo>
                <a:lnTo>
                  <a:pt x="3101910" y="0"/>
                </a:lnTo>
                <a:lnTo>
                  <a:pt x="3101910" y="2171220"/>
                </a:lnTo>
                <a:lnTo>
                  <a:pt x="0" y="21712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38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363133" y="1827256"/>
            <a:ext cx="8076406" cy="1447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04"/>
              </a:lnSpc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Frontend: HTML, CSS, JavaScript.</a:t>
            </a:r>
          </a:p>
          <a:p>
            <a:pPr algn="l">
              <a:lnSpc>
                <a:spcPts val="2304"/>
              </a:lnSpc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Date: destinatii.json incarcat dinamic cu fetch() </a:t>
            </a:r>
          </a:p>
          <a:p>
            <a:pPr algn="l">
              <a:lnSpc>
                <a:spcPts val="2304"/>
              </a:lnSpc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Autentificare: localStorage pentru sesiune utilizator si lista conturi.</a:t>
            </a:r>
          </a:p>
          <a:p>
            <a:pPr algn="l">
              <a:lnSpc>
                <a:spcPts val="2304"/>
              </a:lnSpc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Pagini dinamice: destinatii filtrate dupa continent .</a:t>
            </a:r>
          </a:p>
          <a:p>
            <a:pPr algn="l">
              <a:lnSpc>
                <a:spcPts val="2304"/>
              </a:lnSpc>
            </a:pPr>
            <a:r>
              <a:rPr lang="en-US" sz="192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Structura fisiere JS: login.js, register.js, auth-check.js, script-rezerva.js, despre.js.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269062"/>
            <a:ext cx="9753600" cy="1294876"/>
            <a:chOff x="0" y="0"/>
            <a:chExt cx="13004800" cy="172650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004800" cy="1726438"/>
            </a:xfrm>
            <a:custGeom>
              <a:avLst/>
              <a:gdLst/>
              <a:ahLst/>
              <a:cxnLst/>
              <a:rect l="l" t="t" r="r" b="b"/>
              <a:pathLst>
                <a:path w="13004800" h="1726438">
                  <a:moveTo>
                    <a:pt x="0" y="0"/>
                  </a:moveTo>
                  <a:lnTo>
                    <a:pt x="13004800" y="0"/>
                  </a:lnTo>
                  <a:lnTo>
                    <a:pt x="13004800" y="1726438"/>
                  </a:lnTo>
                  <a:lnTo>
                    <a:pt x="0" y="1726438"/>
                  </a:lnTo>
                  <a:close/>
                </a:path>
              </a:pathLst>
            </a:custGeom>
            <a:solidFill>
              <a:srgbClr val="23557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19050"/>
              <a:ext cx="13004800" cy="174555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ctr">
                <a:lnSpc>
                  <a:spcPts val="3071"/>
                </a:lnSpc>
              </a:pPr>
              <a:r>
                <a:rPr lang="en-US" sz="2559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Functionalitati Principale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985846" y="505997"/>
            <a:ext cx="1349369" cy="820998"/>
            <a:chOff x="0" y="0"/>
            <a:chExt cx="1799158" cy="109466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99209" cy="1094613"/>
            </a:xfrm>
            <a:custGeom>
              <a:avLst/>
              <a:gdLst/>
              <a:ahLst/>
              <a:cxnLst/>
              <a:rect l="l" t="t" r="r" b="b"/>
              <a:pathLst>
                <a:path w="1799209" h="1094613">
                  <a:moveTo>
                    <a:pt x="0" y="0"/>
                  </a:moveTo>
                  <a:lnTo>
                    <a:pt x="1799209" y="0"/>
                  </a:lnTo>
                  <a:lnTo>
                    <a:pt x="1799209" y="1094613"/>
                  </a:lnTo>
                  <a:lnTo>
                    <a:pt x="0" y="1094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2" b="-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401974" y="1891992"/>
            <a:ext cx="6379826" cy="20646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Harta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mondiala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cu 6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continente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-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selectie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filtrare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destinatii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30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destinatii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cu hotel,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pret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descriere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imagine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reprezentativa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Pagina Moldova: 6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destinatii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locale cu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preturi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 MDL.</a:t>
            </a:r>
          </a:p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Formularul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rezervare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cu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verificare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automata a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autentificarii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Pagina Despre Noi cu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interactiv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al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echipei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3929546-E661-E110-667E-8BCB447A4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959" y="4427793"/>
            <a:ext cx="4226840" cy="225527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4F576CC-D748-8DF6-EDC4-CFAEEB8D3D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00" y="4425166"/>
            <a:ext cx="4741329" cy="2257897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269062"/>
            <a:ext cx="9753600" cy="1294876"/>
            <a:chOff x="0" y="0"/>
            <a:chExt cx="13004800" cy="172650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004800" cy="1726438"/>
            </a:xfrm>
            <a:custGeom>
              <a:avLst/>
              <a:gdLst/>
              <a:ahLst/>
              <a:cxnLst/>
              <a:rect l="l" t="t" r="r" b="b"/>
              <a:pathLst>
                <a:path w="13004800" h="1726438">
                  <a:moveTo>
                    <a:pt x="0" y="0"/>
                  </a:moveTo>
                  <a:lnTo>
                    <a:pt x="13004800" y="0"/>
                  </a:lnTo>
                  <a:lnTo>
                    <a:pt x="13004800" y="1726438"/>
                  </a:lnTo>
                  <a:lnTo>
                    <a:pt x="0" y="1726438"/>
                  </a:lnTo>
                  <a:close/>
                </a:path>
              </a:pathLst>
            </a:custGeom>
            <a:solidFill>
              <a:srgbClr val="23557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19050"/>
              <a:ext cx="13004800" cy="174555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ctr">
                <a:lnSpc>
                  <a:spcPts val="3071"/>
                </a:lnSpc>
              </a:pPr>
              <a:r>
                <a:rPr lang="en-US" sz="2559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Demo Aplicatiei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985846" y="505997"/>
            <a:ext cx="1349369" cy="820998"/>
            <a:chOff x="0" y="0"/>
            <a:chExt cx="1799158" cy="109466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99209" cy="1094613"/>
            </a:xfrm>
            <a:custGeom>
              <a:avLst/>
              <a:gdLst/>
              <a:ahLst/>
              <a:cxnLst/>
              <a:rect l="l" t="t" r="r" b="b"/>
              <a:pathLst>
                <a:path w="1799209" h="1094613">
                  <a:moveTo>
                    <a:pt x="0" y="0"/>
                  </a:moveTo>
                  <a:lnTo>
                    <a:pt x="1799209" y="0"/>
                  </a:lnTo>
                  <a:lnTo>
                    <a:pt x="1799209" y="1094613"/>
                  </a:lnTo>
                  <a:lnTo>
                    <a:pt x="0" y="1094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2" b="-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89027" y="2209800"/>
            <a:ext cx="6687502" cy="14747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Pagina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Home -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navigare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prezentare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destinatii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populare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footer.</a:t>
            </a:r>
          </a:p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Inregistrare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utilizator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nou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logare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cu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redirectare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automata.</a:t>
            </a:r>
          </a:p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Harta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mondiala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-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selectie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continent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afisare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destinatii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filtrate.</a:t>
            </a:r>
          </a:p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Rezervare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destinatie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-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verificare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login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completare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formular.</a:t>
            </a:r>
          </a:p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Pagina Moldova,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Contacte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cu formular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pagina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Despre Noi.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269062"/>
            <a:ext cx="9753600" cy="1294876"/>
            <a:chOff x="0" y="0"/>
            <a:chExt cx="13004800" cy="172650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004800" cy="1726438"/>
            </a:xfrm>
            <a:custGeom>
              <a:avLst/>
              <a:gdLst/>
              <a:ahLst/>
              <a:cxnLst/>
              <a:rect l="l" t="t" r="r" b="b"/>
              <a:pathLst>
                <a:path w="13004800" h="1726438">
                  <a:moveTo>
                    <a:pt x="0" y="0"/>
                  </a:moveTo>
                  <a:lnTo>
                    <a:pt x="13004800" y="0"/>
                  </a:lnTo>
                  <a:lnTo>
                    <a:pt x="13004800" y="1726438"/>
                  </a:lnTo>
                  <a:lnTo>
                    <a:pt x="0" y="1726438"/>
                  </a:lnTo>
                  <a:close/>
                </a:path>
              </a:pathLst>
            </a:custGeom>
            <a:solidFill>
              <a:srgbClr val="23557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19050"/>
              <a:ext cx="13004800" cy="174555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ctr">
                <a:lnSpc>
                  <a:spcPts val="3071"/>
                </a:lnSpc>
              </a:pPr>
              <a:r>
                <a:rPr lang="en-US" sz="2559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Tehnologii Utilizate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985846" y="505997"/>
            <a:ext cx="1349369" cy="820998"/>
            <a:chOff x="0" y="0"/>
            <a:chExt cx="1799158" cy="109466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99209" cy="1094613"/>
            </a:xfrm>
            <a:custGeom>
              <a:avLst/>
              <a:gdLst/>
              <a:ahLst/>
              <a:cxnLst/>
              <a:rect l="l" t="t" r="r" b="b"/>
              <a:pathLst>
                <a:path w="1799209" h="1094613">
                  <a:moveTo>
                    <a:pt x="0" y="0"/>
                  </a:moveTo>
                  <a:lnTo>
                    <a:pt x="1799209" y="0"/>
                  </a:lnTo>
                  <a:lnTo>
                    <a:pt x="1799209" y="1094613"/>
                  </a:lnTo>
                  <a:lnTo>
                    <a:pt x="0" y="1094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2" b="-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24291" y="1924050"/>
            <a:ext cx="8820788" cy="176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HTML5: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structura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semantica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formulare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navigatie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multi-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pagina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CSS3: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variabile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custom (--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culori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), grid, flexbox,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animatii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tranzitii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JavaScript ES6+: fetch(),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localStorage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URLSearchParams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afisarea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urasului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functie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 URL),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addEventListener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JSON: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stocare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incarcare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dinamica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datelor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pentru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destinatii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GitHub: control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versiuni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publicare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proiect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online.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269062"/>
            <a:ext cx="9753600" cy="1294875"/>
            <a:chOff x="0" y="0"/>
            <a:chExt cx="13004800" cy="17265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004800" cy="1726436"/>
            </a:xfrm>
            <a:custGeom>
              <a:avLst/>
              <a:gdLst/>
              <a:ahLst/>
              <a:cxnLst/>
              <a:rect l="l" t="t" r="r" b="b"/>
              <a:pathLst>
                <a:path w="13004800" h="1726436">
                  <a:moveTo>
                    <a:pt x="0" y="0"/>
                  </a:moveTo>
                  <a:lnTo>
                    <a:pt x="13004800" y="0"/>
                  </a:lnTo>
                  <a:lnTo>
                    <a:pt x="13004800" y="1726436"/>
                  </a:lnTo>
                  <a:lnTo>
                    <a:pt x="0" y="1726436"/>
                  </a:lnTo>
                  <a:close/>
                </a:path>
              </a:pathLst>
            </a:custGeom>
            <a:solidFill>
              <a:srgbClr val="23557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19050"/>
              <a:ext cx="13004800" cy="1745550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ctr">
                <a:lnSpc>
                  <a:spcPts val="3071"/>
                </a:lnSpc>
              </a:pPr>
              <a:r>
                <a:rPr lang="en-US" sz="2559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GitHub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985846" y="505997"/>
            <a:ext cx="1349369" cy="820998"/>
            <a:chOff x="0" y="0"/>
            <a:chExt cx="1799158" cy="109466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99209" cy="1094613"/>
            </a:xfrm>
            <a:custGeom>
              <a:avLst/>
              <a:gdLst/>
              <a:ahLst/>
              <a:cxnLst/>
              <a:rect l="l" t="t" r="r" b="b"/>
              <a:pathLst>
                <a:path w="1799209" h="1094613">
                  <a:moveTo>
                    <a:pt x="0" y="0"/>
                  </a:moveTo>
                  <a:lnTo>
                    <a:pt x="1799209" y="0"/>
                  </a:lnTo>
                  <a:lnTo>
                    <a:pt x="1799209" y="1094613"/>
                  </a:lnTo>
                  <a:lnTo>
                    <a:pt x="0" y="1094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2" b="-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Freeform 8"/>
          <p:cNvSpPr/>
          <p:nvPr/>
        </p:nvSpPr>
        <p:spPr>
          <a:xfrm>
            <a:off x="205882" y="1724557"/>
            <a:ext cx="3997661" cy="1290341"/>
          </a:xfrm>
          <a:custGeom>
            <a:avLst/>
            <a:gdLst/>
            <a:ahLst/>
            <a:cxnLst/>
            <a:rect l="l" t="t" r="r" b="b"/>
            <a:pathLst>
              <a:path w="3997661" h="1290341">
                <a:moveTo>
                  <a:pt x="0" y="0"/>
                </a:moveTo>
                <a:lnTo>
                  <a:pt x="3997661" y="0"/>
                </a:lnTo>
                <a:lnTo>
                  <a:pt x="3997661" y="1290341"/>
                </a:lnTo>
                <a:lnTo>
                  <a:pt x="0" y="12903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684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4336057" y="1724557"/>
            <a:ext cx="5287125" cy="2513802"/>
          </a:xfrm>
          <a:custGeom>
            <a:avLst/>
            <a:gdLst/>
            <a:ahLst/>
            <a:cxnLst/>
            <a:rect l="l" t="t" r="r" b="b"/>
            <a:pathLst>
              <a:path w="5287125" h="2513802">
                <a:moveTo>
                  <a:pt x="0" y="0"/>
                </a:moveTo>
                <a:lnTo>
                  <a:pt x="5287125" y="0"/>
                </a:lnTo>
                <a:lnTo>
                  <a:pt x="5287125" y="2513803"/>
                </a:lnTo>
                <a:lnTo>
                  <a:pt x="0" y="25138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214" b="-21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205882" y="4509672"/>
            <a:ext cx="4365961" cy="2341247"/>
          </a:xfrm>
          <a:custGeom>
            <a:avLst/>
            <a:gdLst/>
            <a:ahLst/>
            <a:cxnLst/>
            <a:rect l="l" t="t" r="r" b="b"/>
            <a:pathLst>
              <a:path w="4365961" h="2341247">
                <a:moveTo>
                  <a:pt x="0" y="0"/>
                </a:moveTo>
                <a:lnTo>
                  <a:pt x="4365961" y="0"/>
                </a:lnTo>
                <a:lnTo>
                  <a:pt x="4365961" y="2341246"/>
                </a:lnTo>
                <a:lnTo>
                  <a:pt x="0" y="234124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5161640" y="4509672"/>
            <a:ext cx="4286040" cy="1366175"/>
          </a:xfrm>
          <a:custGeom>
            <a:avLst/>
            <a:gdLst/>
            <a:ahLst/>
            <a:cxnLst/>
            <a:rect l="l" t="t" r="r" b="b"/>
            <a:pathLst>
              <a:path w="4286040" h="1366175">
                <a:moveTo>
                  <a:pt x="0" y="0"/>
                </a:moveTo>
                <a:lnTo>
                  <a:pt x="4286039" y="0"/>
                </a:lnTo>
                <a:lnTo>
                  <a:pt x="4286039" y="1366175"/>
                </a:lnTo>
                <a:lnTo>
                  <a:pt x="0" y="136617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269062"/>
            <a:ext cx="9753600" cy="1294876"/>
            <a:chOff x="0" y="0"/>
            <a:chExt cx="13004800" cy="172650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004800" cy="1726438"/>
            </a:xfrm>
            <a:custGeom>
              <a:avLst/>
              <a:gdLst/>
              <a:ahLst/>
              <a:cxnLst/>
              <a:rect l="l" t="t" r="r" b="b"/>
              <a:pathLst>
                <a:path w="13004800" h="1726438">
                  <a:moveTo>
                    <a:pt x="0" y="0"/>
                  </a:moveTo>
                  <a:lnTo>
                    <a:pt x="13004800" y="0"/>
                  </a:lnTo>
                  <a:lnTo>
                    <a:pt x="13004800" y="1726438"/>
                  </a:lnTo>
                  <a:lnTo>
                    <a:pt x="0" y="1726438"/>
                  </a:lnTo>
                  <a:close/>
                </a:path>
              </a:pathLst>
            </a:custGeom>
            <a:solidFill>
              <a:srgbClr val="23557D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19050"/>
              <a:ext cx="13004800" cy="174555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ctr">
                <a:lnSpc>
                  <a:spcPts val="3071"/>
                </a:lnSpc>
              </a:pPr>
              <a:r>
                <a:rPr lang="en-US" sz="2559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Concluzii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985846" y="505997"/>
            <a:ext cx="1349369" cy="820998"/>
            <a:chOff x="0" y="0"/>
            <a:chExt cx="1799158" cy="109466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99209" cy="1094613"/>
            </a:xfrm>
            <a:custGeom>
              <a:avLst/>
              <a:gdLst/>
              <a:ahLst/>
              <a:cxnLst/>
              <a:rect l="l" t="t" r="r" b="b"/>
              <a:pathLst>
                <a:path w="1799209" h="1094613">
                  <a:moveTo>
                    <a:pt x="0" y="0"/>
                  </a:moveTo>
                  <a:lnTo>
                    <a:pt x="1799209" y="0"/>
                  </a:lnTo>
                  <a:lnTo>
                    <a:pt x="1799209" y="1094613"/>
                  </a:lnTo>
                  <a:lnTo>
                    <a:pt x="0" y="1094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2" b="-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70289" y="2209800"/>
            <a:ext cx="7494429" cy="2064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Proiectul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GlobeTrotter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realizeaza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cu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succes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un portal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turistic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complet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invatat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structurez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un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proiect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multi-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pagina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HTML/CSS/JS de la zero.</a:t>
            </a:r>
          </a:p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Implementarea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autentificarii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cu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localStorage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fost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provocare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valoroasa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Design-ul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atractiv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responsive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imbunatateste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experienta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utilizatorului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342900" indent="-342900" algn="l">
              <a:lnSpc>
                <a:spcPts val="2304"/>
              </a:lnSpc>
              <a:buFont typeface="Arial" panose="020B0604020202020204" pitchFamily="34" charset="0"/>
              <a:buChar char="•"/>
            </a:pP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viitor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backend ,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baza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 date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mare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integrare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920" dirty="0" err="1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plati</a:t>
            </a:r>
            <a:r>
              <a:rPr lang="en-US" sz="1920" dirty="0">
                <a:solidFill>
                  <a:srgbClr val="1C1C1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online.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586</Words>
  <Application>Microsoft Office PowerPoint</Application>
  <PresentationFormat>Custom</PresentationFormat>
  <Paragraphs>70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Calibri</vt:lpstr>
      <vt:lpstr>Arial</vt:lpstr>
      <vt:lpstr>Aptos</vt:lpstr>
      <vt:lpstr>Arial Bold</vt:lpstr>
      <vt:lpstr>Times New Roman Bold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GlobeTrotter_Prezentare.pptx</dc:title>
  <cp:lastModifiedBy>Ștefan Vornicov</cp:lastModifiedBy>
  <cp:revision>2</cp:revision>
  <dcterms:created xsi:type="dcterms:W3CDTF">2006-08-16T00:00:00Z</dcterms:created>
  <dcterms:modified xsi:type="dcterms:W3CDTF">2026-04-29T08:56:31Z</dcterms:modified>
  <dc:identifier>DAHIOO199ug</dc:identifier>
</cp:coreProperties>
</file>